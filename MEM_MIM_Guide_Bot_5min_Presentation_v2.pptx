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[~0:25]  Good morning. We're [your names], and our capstone is the MEM &amp; MIM Guide Bot — an AI chatbot we built to answer student questions about Hochschule Pforzheim's two master's programs: Engineering &amp; Management (MEM) and Industrial Management (MIM). In the next five minutes we'll show what it does, how we built it, the tools we used, the main challenges we solved — and finish with a quick live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So what is it? A chatbot that answers questions about MEM and MIM in plain language — which program fits you, the courses, careers, how to apply, fees, and language requirements. It has two modes: a prospective-student mode for people deciding whether to apply, and an enrolled-student mode for current students who need help with classes and their schedule. A key design goal: it gives direct, GROUNDED answers — for facts like schedules, rooms, professors and deadlines it pulls from fixed, reliable sources instead of guessing. And it has voice output in the professor's voice plus a simple web interface, so it's easy to demo and use.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[~0:55]  Here's how it's built. The frontend is a single-page web interface — index.html — where the user types and reads answers. It talks to a backend server we wrote in Python with FastAPI, in app.py, which handles routing and logic. Behind that is our knowledge base: curated facts, the timetable, room data, and course-to-professor data. The important decision is on the right — the Groq language model is used ONLY when a flexible, conversational explanation is needed. For anything factual, the answer comes from those fixed sources. That separation is what keeps the bot accurate instead of making things up.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[~0:40]  The tools: Python with FastAPI for the chatbot's API and server. Standard HTML, CSS and JavaScript for the browser experience. Groq's large language model for the conversational answers, and ElevenLabs for the optional voice output. And we built PDF extraction to pull room and professor information out of the university's timetable PDFs into clean, searchable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Our method was straightforward: a brief analysis of what students actually ask, then collecting the facts, then building the backend and frontend, and finally a lot of testing for accuracy. Two challenges stood out. First, avoiding hallucinated facts — language models can sound confident and still be wrong, so for schedules, rooms, fees and language requirements we force the bot to use fixed sources, and if it doesn't have something it says 'I don't have that' rather than inventing an answer. Second, the timetable PDFs were messy — room and professor data came in different formats across documents — so we built custom extraction to turn that into clean data the bot can search reliably.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[~0:50]  You asked us to try MCP — the Model Context Protocol — and we did, in two ways. First, we built an MCP server, mcp_knowledge_server.py, that exposes our knowledge base as an MCP tool called search_mem_mim_documents — so any MCP host, like Claude Desktop, can query our MEM and MIM data. Second — and this is the part you can see live — we wired that exact same tool into the bot: type 'mcp search:' followed by a topic, and the bot runs the MCP knowledge search and returns the sourced excerpts straight from our documents. So MCP isn't just theory here — the tool runs in the demo. For a full external MCP client you'd run the server with the mcp package, but the search tool is the same either way.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[~0:45 + demo]  And that brings us to the live demo. [Switch to the bot.] Let me ask it a few things — how to apply, MEM vs MIM, a schedule question — and, to show MCP, type “mcp search: MIM English Track language requirements” so you can see the MCP tool return sourced excerpts live. [One question at a time.] ... That's the MEM &amp; MIM Guide Bot. We built it ourselves, with help from AI pair-programming assistants — Claude Code and Codex — for coding, debugging and testing; the direction and decisions are ours. Thank you —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6EC"/>
        </a:solidFill>
        <a:effectLst/>
      </p:bgPr>
    </p:bg>
    <p:spTree>
      <p:nvGrpSpPr>
        <p:cNvPr id="1" name=""/>
        <p:cNvGrpSpPr/>
        <p:nvPr/>
      </p:nvGrpSpPr>
      <p:grpSpPr/>
      <p:sp>
        <p:nvSpPr>
          <p:cNvPr id="2" name="Rectangle 1"/>
          <p:cNvSpPr/>
          <p:nvPr/>
        </p:nvSpPr>
        <p:spPr>
          <a:xfrm>
            <a:off x="0" y="0"/>
            <a:ext cx="12191695" cy="256032"/>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01968"/>
            <a:ext cx="12191695" cy="256032"/>
          </a:xfrm>
          <a:prstGeom prst="rect">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png"/>
          <p:cNvPicPr>
            <a:picLocks noChangeAspect="1"/>
          </p:cNvPicPr>
          <p:nvPr/>
        </p:nvPicPr>
        <p:blipFill>
          <a:blip r:embed="rId2"/>
          <a:stretch>
            <a:fillRect/>
          </a:stretch>
        </p:blipFill>
        <p:spPr>
          <a:xfrm>
            <a:off x="777240" y="868680"/>
            <a:ext cx="1260566" cy="868680"/>
          </a:xfrm>
          <a:prstGeom prst="rect">
            <a:avLst/>
          </a:prstGeom>
        </p:spPr>
      </p:pic>
      <p:sp>
        <p:nvSpPr>
          <p:cNvPr id="5" name="TextBox 4"/>
          <p:cNvSpPr txBox="1"/>
          <p:nvPr/>
        </p:nvSpPr>
        <p:spPr>
          <a:xfrm>
            <a:off x="731520" y="2148840"/>
            <a:ext cx="6766560" cy="2194560"/>
          </a:xfrm>
          <a:prstGeom prst="rect">
            <a:avLst/>
          </a:prstGeom>
          <a:noFill/>
        </p:spPr>
        <p:txBody>
          <a:bodyPr wrap="square" anchor="t">
            <a:spAutoFit/>
          </a:bodyPr>
          <a:lstStyle/>
          <a:p>
            <a:pPr algn="l">
              <a:lnSpc>
                <a:spcPct val="100000"/>
              </a:lnSpc>
              <a:spcAft>
                <a:spcPts val="0"/>
              </a:spcAft>
            </a:pPr>
            <a:r>
              <a:rPr sz="5200" b="1">
                <a:solidFill>
                  <a:srgbClr val="104950"/>
                </a:solidFill>
                <a:latin typeface="Calibri"/>
              </a:rPr>
              <a:t>MEM &amp; MIM</a:t>
            </a:r>
          </a:p>
          <a:p>
            <a:pPr algn="l">
              <a:lnSpc>
                <a:spcPct val="100000"/>
              </a:lnSpc>
              <a:spcAft>
                <a:spcPts val="800"/>
              </a:spcAft>
            </a:pPr>
            <a:r>
              <a:rPr sz="5200" b="1">
                <a:solidFill>
                  <a:srgbClr val="1F6F78"/>
                </a:solidFill>
                <a:latin typeface="Calibri"/>
              </a:rPr>
              <a:t>Guide Bot</a:t>
            </a:r>
          </a:p>
          <a:p>
            <a:pPr algn="l">
              <a:lnSpc>
                <a:spcPct val="100000"/>
              </a:lnSpc>
              <a:spcAft>
                <a:spcPts val="300"/>
              </a:spcAft>
            </a:pPr>
            <a:r>
              <a:rPr sz="2100" b="1">
                <a:solidFill>
                  <a:srgbClr val="5C676C"/>
                </a:solidFill>
                <a:latin typeface="Calibri"/>
              </a:rPr>
              <a:t>AI Chatbot  ·  Capstone Demo</a:t>
            </a:r>
          </a:p>
        </p:txBody>
      </p:sp>
      <p:sp>
        <p:nvSpPr>
          <p:cNvPr id="6" name="Rounded Rectangle 5"/>
          <p:cNvSpPr/>
          <p:nvPr/>
        </p:nvSpPr>
        <p:spPr>
          <a:xfrm>
            <a:off x="777240" y="4892040"/>
            <a:ext cx="6309360" cy="9601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5029200"/>
            <a:ext cx="5943600" cy="731520"/>
          </a:xfrm>
          <a:prstGeom prst="rect">
            <a:avLst/>
          </a:prstGeom>
          <a:noFill/>
        </p:spPr>
        <p:txBody>
          <a:bodyPr wrap="square" anchor="t">
            <a:spAutoFit/>
          </a:bodyPr>
          <a:lstStyle/>
          <a:p>
            <a:pPr algn="l">
              <a:lnSpc>
                <a:spcPct val="100000"/>
              </a:lnSpc>
              <a:spcAft>
                <a:spcPts val="300"/>
              </a:spcAft>
            </a:pPr>
            <a:r>
              <a:rPr sz="1500" b="1">
                <a:solidFill>
                  <a:srgbClr val="242B2F"/>
                </a:solidFill>
                <a:latin typeface="Calibri"/>
              </a:rPr>
              <a:t>5-minute presentation   ·   24 June 2026</a:t>
            </a:r>
          </a:p>
          <a:p>
            <a:pPr algn="l">
              <a:lnSpc>
                <a:spcPct val="100000"/>
              </a:lnSpc>
              <a:spcAft>
                <a:spcPts val="300"/>
              </a:spcAft>
            </a:pPr>
            <a:r>
              <a:rPr sz="1300" b="0">
                <a:solidFill>
                  <a:srgbClr val="5C676C"/>
                </a:solidFill>
                <a:latin typeface="Calibri"/>
              </a:rPr>
              <a:t>Hochschule Pforzheim   ·   Group members: [add names]</a:t>
            </a:r>
          </a:p>
        </p:txBody>
      </p:sp>
      <p:sp>
        <p:nvSpPr>
          <p:cNvPr id="8" name="Rounded Rectangle 7"/>
          <p:cNvSpPr/>
          <p:nvPr/>
        </p:nvSpPr>
        <p:spPr>
          <a:xfrm>
            <a:off x="7818120" y="1188720"/>
            <a:ext cx="3703320" cy="448056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818120" y="1188720"/>
            <a:ext cx="3703320" cy="658368"/>
          </a:xfrm>
          <a:prstGeom prst="roundRect">
            <a:avLst>
              <a:gd name="adj" fmla="val 9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300"/>
              </a:spcAft>
            </a:pPr>
            <a:r>
              <a:rPr sz="1500" b="1">
                <a:solidFill>
                  <a:srgbClr val="FFFFFF"/>
                </a:solidFill>
                <a:latin typeface="Calibri"/>
              </a:rPr>
              <a:t>💬  MEM / MIM Guide Bot</a:t>
            </a:r>
          </a:p>
        </p:txBody>
      </p:sp>
      <p:sp>
        <p:nvSpPr>
          <p:cNvPr id="10" name="Rounded Rectangle 9"/>
          <p:cNvSpPr/>
          <p:nvPr/>
        </p:nvSpPr>
        <p:spPr>
          <a:xfrm>
            <a:off x="8823960" y="2057400"/>
            <a:ext cx="2468880" cy="713232"/>
          </a:xfrm>
          <a:prstGeom prst="roundRect">
            <a:avLst>
              <a:gd name="adj" fmla="val 9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300"/>
              </a:spcAft>
            </a:pPr>
            <a:r>
              <a:rPr sz="1250" b="0">
                <a:solidFill>
                  <a:srgbClr val="FFFFFF"/>
                </a:solidFill>
                <a:latin typeface="Calibri"/>
              </a:rPr>
              <a:t>How do I apply for MIM?</a:t>
            </a:r>
          </a:p>
        </p:txBody>
      </p:sp>
      <p:sp>
        <p:nvSpPr>
          <p:cNvPr id="11" name="Rounded Rectangle 10"/>
          <p:cNvSpPr/>
          <p:nvPr/>
        </p:nvSpPr>
        <p:spPr>
          <a:xfrm>
            <a:off x="8046720" y="2907792"/>
            <a:ext cx="3154680" cy="713232"/>
          </a:xfrm>
          <a:prstGeom prst="roundRect">
            <a:avLst>
              <a:gd name="adj" fmla="val 9000"/>
            </a:avLst>
          </a:prstGeom>
          <a:solidFill>
            <a:srgbClr val="EFE8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300"/>
              </a:spcAft>
            </a:pPr>
            <a:r>
              <a:rPr sz="1250" b="0">
                <a:solidFill>
                  <a:srgbClr val="242B2F"/>
                </a:solidFill>
                <a:latin typeface="Calibri"/>
              </a:rPr>
              <a:t>Apply on the HS Pforzheim portal — deadlines 15 Jan &amp; 15 June.</a:t>
            </a:r>
          </a:p>
        </p:txBody>
      </p:sp>
      <p:sp>
        <p:nvSpPr>
          <p:cNvPr id="12" name="Rounded Rectangle 11"/>
          <p:cNvSpPr/>
          <p:nvPr/>
        </p:nvSpPr>
        <p:spPr>
          <a:xfrm>
            <a:off x="8092440" y="3822191"/>
            <a:ext cx="3200400" cy="713232"/>
          </a:xfrm>
          <a:prstGeom prst="roundRect">
            <a:avLst>
              <a:gd name="adj" fmla="val 9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300"/>
              </a:spcAft>
            </a:pPr>
            <a:r>
              <a:rPr sz="1250" b="0">
                <a:solidFill>
                  <a:srgbClr val="FFFFFF"/>
                </a:solidFill>
                <a:latin typeface="Calibri"/>
              </a:rPr>
              <a:t>Do I need German for the English track?</a:t>
            </a:r>
          </a:p>
        </p:txBody>
      </p:sp>
      <p:sp>
        <p:nvSpPr>
          <p:cNvPr id="13" name="Rounded Rectangle 12"/>
          <p:cNvSpPr/>
          <p:nvPr/>
        </p:nvSpPr>
        <p:spPr>
          <a:xfrm>
            <a:off x="8046720" y="4709160"/>
            <a:ext cx="2926080" cy="713232"/>
          </a:xfrm>
          <a:prstGeom prst="roundRect">
            <a:avLst>
              <a:gd name="adj" fmla="val 9000"/>
            </a:avLst>
          </a:prstGeom>
          <a:solidFill>
            <a:srgbClr val="EFE8D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l">
              <a:lnSpc>
                <a:spcPct val="100000"/>
              </a:lnSpc>
              <a:spcAft>
                <a:spcPts val="300"/>
              </a:spcAft>
            </a:pPr>
            <a:r>
              <a:rPr sz="1250" b="0">
                <a:solidFill>
                  <a:srgbClr val="242B2F"/>
                </a:solidFill>
                <a:latin typeface="Calibri"/>
              </a:rPr>
              <a:t>No — only English (TOEFL / IELTS) is required.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6EC"/>
        </a:solidFill>
        <a:effectLst/>
      </p:bgPr>
    </p:bg>
    <p:spTree>
      <p:nvGrpSpPr>
        <p:cNvPr id="1" name=""/>
        <p:cNvGrpSpPr/>
        <p:nvPr/>
      </p:nvGrpSpPr>
      <p:grpSpPr/>
      <p:sp>
        <p:nvSpPr>
          <p:cNvPr id="2" name="Oval 1"/>
          <p:cNvSpPr/>
          <p:nvPr/>
        </p:nvSpPr>
        <p:spPr>
          <a:xfrm>
            <a:off x="640080" y="530352"/>
            <a:ext cx="603504" cy="603504"/>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2600" b="1">
                <a:solidFill>
                  <a:srgbClr val="FFFFFF"/>
                </a:solidFill>
                <a:latin typeface="Calibri"/>
              </a:rPr>
              <a:t>1</a:t>
            </a:r>
          </a:p>
        </p:txBody>
      </p:sp>
      <p:sp>
        <p:nvSpPr>
          <p:cNvPr id="3" name="TextBox 2"/>
          <p:cNvSpPr txBox="1"/>
          <p:nvPr/>
        </p:nvSpPr>
        <p:spPr>
          <a:xfrm>
            <a:off x="1417320" y="502920"/>
            <a:ext cx="9144000" cy="685800"/>
          </a:xfrm>
          <a:prstGeom prst="rect">
            <a:avLst/>
          </a:prstGeom>
          <a:noFill/>
        </p:spPr>
        <p:txBody>
          <a:bodyPr wrap="square" anchor="ctr">
            <a:spAutoFit/>
          </a:bodyPr>
          <a:lstStyle/>
          <a:p>
            <a:pPr algn="l">
              <a:lnSpc>
                <a:spcPct val="100000"/>
              </a:lnSpc>
              <a:spcAft>
                <a:spcPts val="300"/>
              </a:spcAft>
            </a:pPr>
            <a:r>
              <a:rPr sz="3100" b="1">
                <a:solidFill>
                  <a:srgbClr val="104950"/>
                </a:solidFill>
                <a:latin typeface="Calibri"/>
              </a:rPr>
              <a:t>What We Built</a:t>
            </a:r>
          </a:p>
        </p:txBody>
      </p:sp>
      <p:sp>
        <p:nvSpPr>
          <p:cNvPr id="4" name="Rectangle 3"/>
          <p:cNvSpPr/>
          <p:nvPr/>
        </p:nvSpPr>
        <p:spPr>
          <a:xfrm>
            <a:off x="676656" y="1335024"/>
            <a:ext cx="3291840" cy="64008"/>
          </a:xfrm>
          <a:prstGeom prst="rect">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10835640" y="548640"/>
            <a:ext cx="610379" cy="420624"/>
          </a:xfrm>
          <a:prstGeom prst="rect">
            <a:avLst/>
          </a:prstGeom>
        </p:spPr>
      </p:pic>
      <p:sp>
        <p:nvSpPr>
          <p:cNvPr id="6" name="Rounded Rectangle 5"/>
          <p:cNvSpPr/>
          <p:nvPr/>
        </p:nvSpPr>
        <p:spPr>
          <a:xfrm>
            <a:off x="685800" y="1783080"/>
            <a:ext cx="5120640" cy="21031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2103120"/>
            <a:ext cx="868680" cy="868680"/>
          </a:xfrm>
          <a:prstGeom prst="ellipse">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3000" b="0">
                <a:solidFill>
                  <a:srgbClr val="242B2F"/>
                </a:solidFill>
                <a:latin typeface="Calibri"/>
              </a:rPr>
              <a:t>💬</a:t>
            </a:r>
          </a:p>
        </p:txBody>
      </p:sp>
      <p:sp>
        <p:nvSpPr>
          <p:cNvPr id="8" name="Oval 7"/>
          <p:cNvSpPr/>
          <p:nvPr/>
        </p:nvSpPr>
        <p:spPr>
          <a:xfrm>
            <a:off x="960120" y="2103120"/>
            <a:ext cx="868680" cy="868680"/>
          </a:xfrm>
          <a:prstGeom prst="ellipse">
            <a:avLst/>
          </a:prstGeom>
          <a:solidFill>
            <a:srgbClr val="FBF6EC"/>
          </a:solidFill>
          <a:ln>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011680" y="2148840"/>
            <a:ext cx="3611880" cy="1645920"/>
          </a:xfrm>
          <a:prstGeom prst="rect">
            <a:avLst/>
          </a:prstGeom>
          <a:noFill/>
        </p:spPr>
        <p:txBody>
          <a:bodyPr wrap="square" anchor="t">
            <a:spAutoFit/>
          </a:bodyPr>
          <a:lstStyle/>
          <a:p>
            <a:pPr algn="l">
              <a:lnSpc>
                <a:spcPct val="100000"/>
              </a:lnSpc>
              <a:spcAft>
                <a:spcPts val="500"/>
              </a:spcAft>
            </a:pPr>
            <a:r>
              <a:rPr sz="1800" b="1">
                <a:solidFill>
                  <a:srgbClr val="104950"/>
                </a:solidFill>
                <a:latin typeface="Calibri"/>
              </a:rPr>
              <a:t>Answers MEM &amp; MIM questions</a:t>
            </a:r>
          </a:p>
          <a:p>
            <a:pPr algn="l">
              <a:lnSpc>
                <a:spcPct val="105000"/>
              </a:lnSpc>
              <a:spcAft>
                <a:spcPts val="300"/>
              </a:spcAft>
            </a:pPr>
            <a:r>
              <a:rPr sz="1400" b="0">
                <a:solidFill>
                  <a:srgbClr val="5C676C"/>
                </a:solidFill>
                <a:latin typeface="Calibri"/>
              </a:rPr>
              <a:t>Courses, careers, applying, fees and language — in plain language.</a:t>
            </a:r>
          </a:p>
        </p:txBody>
      </p:sp>
      <p:sp>
        <p:nvSpPr>
          <p:cNvPr id="10" name="Rounded Rectangle 9"/>
          <p:cNvSpPr/>
          <p:nvPr/>
        </p:nvSpPr>
        <p:spPr>
          <a:xfrm>
            <a:off x="6355080" y="1783080"/>
            <a:ext cx="5120640" cy="21031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629400" y="2103120"/>
            <a:ext cx="868680" cy="868680"/>
          </a:xfrm>
          <a:prstGeom prst="ellipse">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3000" b="0">
                <a:solidFill>
                  <a:srgbClr val="242B2F"/>
                </a:solidFill>
                <a:latin typeface="Calibri"/>
              </a:rPr>
              <a:t>🎓</a:t>
            </a:r>
          </a:p>
        </p:txBody>
      </p:sp>
      <p:sp>
        <p:nvSpPr>
          <p:cNvPr id="12" name="Oval 11"/>
          <p:cNvSpPr/>
          <p:nvPr/>
        </p:nvSpPr>
        <p:spPr>
          <a:xfrm>
            <a:off x="6629400" y="2103120"/>
            <a:ext cx="868680" cy="868680"/>
          </a:xfrm>
          <a:prstGeom prst="ellipse">
            <a:avLst/>
          </a:prstGeom>
          <a:solidFill>
            <a:srgbClr val="FBF6EC"/>
          </a:solidFill>
          <a:ln>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680960" y="2148840"/>
            <a:ext cx="3611880" cy="1645920"/>
          </a:xfrm>
          <a:prstGeom prst="rect">
            <a:avLst/>
          </a:prstGeom>
          <a:noFill/>
        </p:spPr>
        <p:txBody>
          <a:bodyPr wrap="square" anchor="t">
            <a:spAutoFit/>
          </a:bodyPr>
          <a:lstStyle/>
          <a:p>
            <a:pPr algn="l">
              <a:lnSpc>
                <a:spcPct val="100000"/>
              </a:lnSpc>
              <a:spcAft>
                <a:spcPts val="500"/>
              </a:spcAft>
            </a:pPr>
            <a:r>
              <a:rPr sz="1800" b="1">
                <a:solidFill>
                  <a:srgbClr val="104950"/>
                </a:solidFill>
                <a:latin typeface="Calibri"/>
              </a:rPr>
              <a:t>Two modes</a:t>
            </a:r>
          </a:p>
          <a:p>
            <a:pPr algn="l">
              <a:lnSpc>
                <a:spcPct val="105000"/>
              </a:lnSpc>
              <a:spcAft>
                <a:spcPts val="300"/>
              </a:spcAft>
            </a:pPr>
            <a:r>
              <a:rPr sz="1400" b="0">
                <a:solidFill>
                  <a:srgbClr val="5C676C"/>
                </a:solidFill>
                <a:latin typeface="Calibri"/>
              </a:rPr>
              <a:t>Prospective students (decide &amp; apply) and enrolled students (study life).</a:t>
            </a:r>
          </a:p>
        </p:txBody>
      </p:sp>
      <p:sp>
        <p:nvSpPr>
          <p:cNvPr id="14" name="Rounded Rectangle 13"/>
          <p:cNvSpPr/>
          <p:nvPr/>
        </p:nvSpPr>
        <p:spPr>
          <a:xfrm>
            <a:off x="685800" y="4069080"/>
            <a:ext cx="5120640" cy="21031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60120" y="4389120"/>
            <a:ext cx="868680" cy="868680"/>
          </a:xfrm>
          <a:prstGeom prst="ellipse">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3000" b="0">
                <a:solidFill>
                  <a:srgbClr val="242B2F"/>
                </a:solidFill>
                <a:latin typeface="Calibri"/>
              </a:rPr>
              <a:t>🗓️</a:t>
            </a:r>
          </a:p>
        </p:txBody>
      </p:sp>
      <p:sp>
        <p:nvSpPr>
          <p:cNvPr id="16" name="Oval 15"/>
          <p:cNvSpPr/>
          <p:nvPr/>
        </p:nvSpPr>
        <p:spPr>
          <a:xfrm>
            <a:off x="960120" y="4389120"/>
            <a:ext cx="868680" cy="868680"/>
          </a:xfrm>
          <a:prstGeom prst="ellipse">
            <a:avLst/>
          </a:prstGeom>
          <a:solidFill>
            <a:srgbClr val="FBF6EC"/>
          </a:solidFill>
          <a:ln>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0" y="4434840"/>
            <a:ext cx="3611880" cy="1645920"/>
          </a:xfrm>
          <a:prstGeom prst="rect">
            <a:avLst/>
          </a:prstGeom>
          <a:noFill/>
        </p:spPr>
        <p:txBody>
          <a:bodyPr wrap="square" anchor="t">
            <a:spAutoFit/>
          </a:bodyPr>
          <a:lstStyle/>
          <a:p>
            <a:pPr algn="l">
              <a:lnSpc>
                <a:spcPct val="100000"/>
              </a:lnSpc>
              <a:spcAft>
                <a:spcPts val="500"/>
              </a:spcAft>
            </a:pPr>
            <a:r>
              <a:rPr sz="1800" b="1">
                <a:solidFill>
                  <a:srgbClr val="104950"/>
                </a:solidFill>
                <a:latin typeface="Calibri"/>
              </a:rPr>
              <a:t>Direct, grounded facts</a:t>
            </a:r>
          </a:p>
          <a:p>
            <a:pPr algn="l">
              <a:lnSpc>
                <a:spcPct val="105000"/>
              </a:lnSpc>
              <a:spcAft>
                <a:spcPts val="300"/>
              </a:spcAft>
            </a:pPr>
            <a:r>
              <a:rPr sz="1400" b="0">
                <a:solidFill>
                  <a:srgbClr val="5C676C"/>
                </a:solidFill>
                <a:latin typeface="Calibri"/>
              </a:rPr>
              <a:t>Schedules, rooms, professors and deadlines from fixed sources.</a:t>
            </a:r>
          </a:p>
        </p:txBody>
      </p:sp>
      <p:sp>
        <p:nvSpPr>
          <p:cNvPr id="18" name="Rounded Rectangle 17"/>
          <p:cNvSpPr/>
          <p:nvPr/>
        </p:nvSpPr>
        <p:spPr>
          <a:xfrm>
            <a:off x="6355080" y="4069080"/>
            <a:ext cx="5120640" cy="21031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629400" y="4389120"/>
            <a:ext cx="868680" cy="868680"/>
          </a:xfrm>
          <a:prstGeom prst="ellipse">
            <a:avLst/>
          </a:prstGeom>
          <a:solidFill>
            <a:srgbClr val="FB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3000" b="0">
                <a:solidFill>
                  <a:srgbClr val="242B2F"/>
                </a:solidFill>
                <a:latin typeface="Calibri"/>
              </a:rPr>
              <a:t>🎙️</a:t>
            </a:r>
          </a:p>
        </p:txBody>
      </p:sp>
      <p:sp>
        <p:nvSpPr>
          <p:cNvPr id="20" name="Oval 19"/>
          <p:cNvSpPr/>
          <p:nvPr/>
        </p:nvSpPr>
        <p:spPr>
          <a:xfrm>
            <a:off x="6629400" y="4389120"/>
            <a:ext cx="868680" cy="868680"/>
          </a:xfrm>
          <a:prstGeom prst="ellipse">
            <a:avLst/>
          </a:prstGeom>
          <a:solidFill>
            <a:srgbClr val="FBF6EC"/>
          </a:solidFill>
          <a:ln>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680960" y="4434840"/>
            <a:ext cx="3611880" cy="1645920"/>
          </a:xfrm>
          <a:prstGeom prst="rect">
            <a:avLst/>
          </a:prstGeom>
          <a:noFill/>
        </p:spPr>
        <p:txBody>
          <a:bodyPr wrap="square" anchor="t">
            <a:spAutoFit/>
          </a:bodyPr>
          <a:lstStyle/>
          <a:p>
            <a:pPr algn="l">
              <a:lnSpc>
                <a:spcPct val="100000"/>
              </a:lnSpc>
              <a:spcAft>
                <a:spcPts val="500"/>
              </a:spcAft>
            </a:pPr>
            <a:r>
              <a:rPr sz="1800" b="1">
                <a:solidFill>
                  <a:srgbClr val="104950"/>
                </a:solidFill>
                <a:latin typeface="Calibri"/>
              </a:rPr>
              <a:t>Voice + web interface</a:t>
            </a:r>
          </a:p>
          <a:p>
            <a:pPr algn="l">
              <a:lnSpc>
                <a:spcPct val="105000"/>
              </a:lnSpc>
              <a:spcAft>
                <a:spcPts val="300"/>
              </a:spcAft>
            </a:pPr>
            <a:r>
              <a:rPr sz="1400" b="0">
                <a:solidFill>
                  <a:srgbClr val="5C676C"/>
                </a:solidFill>
                <a:latin typeface="Calibri"/>
              </a:rPr>
              <a:t>Spoken answers in the professor's voice and a simple browser demo.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6EC"/>
        </a:solidFill>
        <a:effectLst/>
      </p:bgPr>
    </p:bg>
    <p:spTree>
      <p:nvGrpSpPr>
        <p:cNvPr id="1" name=""/>
        <p:cNvGrpSpPr/>
        <p:nvPr/>
      </p:nvGrpSpPr>
      <p:grpSpPr/>
      <p:sp>
        <p:nvSpPr>
          <p:cNvPr id="2" name="Oval 1"/>
          <p:cNvSpPr/>
          <p:nvPr/>
        </p:nvSpPr>
        <p:spPr>
          <a:xfrm>
            <a:off x="640080" y="530352"/>
            <a:ext cx="603504" cy="603504"/>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2600" b="1">
                <a:solidFill>
                  <a:srgbClr val="FFFFFF"/>
                </a:solidFill>
                <a:latin typeface="Calibri"/>
              </a:rPr>
              <a:t>2</a:t>
            </a:r>
          </a:p>
        </p:txBody>
      </p:sp>
      <p:sp>
        <p:nvSpPr>
          <p:cNvPr id="3" name="TextBox 2"/>
          <p:cNvSpPr txBox="1"/>
          <p:nvPr/>
        </p:nvSpPr>
        <p:spPr>
          <a:xfrm>
            <a:off x="1417320" y="502920"/>
            <a:ext cx="9144000" cy="685800"/>
          </a:xfrm>
          <a:prstGeom prst="rect">
            <a:avLst/>
          </a:prstGeom>
          <a:noFill/>
        </p:spPr>
        <p:txBody>
          <a:bodyPr wrap="square" anchor="ctr">
            <a:spAutoFit/>
          </a:bodyPr>
          <a:lstStyle/>
          <a:p>
            <a:pPr algn="l">
              <a:lnSpc>
                <a:spcPct val="100000"/>
              </a:lnSpc>
              <a:spcAft>
                <a:spcPts val="300"/>
              </a:spcAft>
            </a:pPr>
            <a:r>
              <a:rPr sz="3100" b="1">
                <a:solidFill>
                  <a:srgbClr val="104950"/>
                </a:solidFill>
                <a:latin typeface="Calibri"/>
              </a:rPr>
              <a:t>Implementation</a:t>
            </a:r>
          </a:p>
        </p:txBody>
      </p:sp>
      <p:sp>
        <p:nvSpPr>
          <p:cNvPr id="4" name="Rectangle 3"/>
          <p:cNvSpPr/>
          <p:nvPr/>
        </p:nvSpPr>
        <p:spPr>
          <a:xfrm>
            <a:off x="676656" y="1335024"/>
            <a:ext cx="3291840" cy="64008"/>
          </a:xfrm>
          <a:prstGeom prst="rect">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10835640" y="548640"/>
            <a:ext cx="610379" cy="420624"/>
          </a:xfrm>
          <a:prstGeom prst="rect">
            <a:avLst/>
          </a:prstGeom>
        </p:spPr>
      </p:pic>
      <p:sp>
        <p:nvSpPr>
          <p:cNvPr id="6" name="Rounded Rectangle 5"/>
          <p:cNvSpPr/>
          <p:nvPr/>
        </p:nvSpPr>
        <p:spPr>
          <a:xfrm>
            <a:off x="685800" y="2286000"/>
            <a:ext cx="2743200" cy="155448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200"/>
              </a:spcAft>
            </a:pPr>
            <a:r>
              <a:rPr sz="1500" b="1">
                <a:solidFill>
                  <a:srgbClr val="104950"/>
                </a:solidFill>
                <a:latin typeface="Calibri"/>
              </a:rPr>
              <a:t>Browser</a:t>
            </a:r>
          </a:p>
          <a:p>
            <a:pPr algn="ctr">
              <a:lnSpc>
                <a:spcPct val="100000"/>
              </a:lnSpc>
              <a:spcAft>
                <a:spcPts val="300"/>
              </a:spcAft>
            </a:pPr>
            <a:r>
              <a:rPr sz="1150" b="0">
                <a:solidFill>
                  <a:srgbClr val="5C676C"/>
                </a:solidFill>
                <a:latin typeface="Calibri"/>
              </a:rPr>
              <a:t>index.html — chat UI</a:t>
            </a:r>
          </a:p>
        </p:txBody>
      </p:sp>
      <p:sp>
        <p:nvSpPr>
          <p:cNvPr id="7" name="Right Arrow 6"/>
          <p:cNvSpPr/>
          <p:nvPr/>
        </p:nvSpPr>
        <p:spPr>
          <a:xfrm>
            <a:off x="3611880" y="2834640"/>
            <a:ext cx="640080" cy="457200"/>
          </a:xfrm>
          <a:prstGeom prst="rightArrow">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434840" y="2286000"/>
            <a:ext cx="2834640" cy="1554480"/>
          </a:xfrm>
          <a:prstGeom prst="roundRect">
            <a:avLst>
              <a:gd name="adj" fmla="val 9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200"/>
              </a:spcAft>
            </a:pPr>
            <a:r>
              <a:rPr sz="1500" b="1">
                <a:solidFill>
                  <a:srgbClr val="FFFFFF"/>
                </a:solidFill>
                <a:latin typeface="Calibri"/>
              </a:rPr>
              <a:t>FastAPI backend</a:t>
            </a:r>
          </a:p>
          <a:p>
            <a:pPr algn="ctr">
              <a:lnSpc>
                <a:spcPct val="100000"/>
              </a:lnSpc>
              <a:spcAft>
                <a:spcPts val="300"/>
              </a:spcAft>
            </a:pPr>
            <a:r>
              <a:rPr sz="1150" b="0">
                <a:solidFill>
                  <a:srgbClr val="D8ECEE"/>
                </a:solidFill>
                <a:latin typeface="Calibri"/>
              </a:rPr>
              <a:t>app.py — routing &amp; logic</a:t>
            </a:r>
          </a:p>
        </p:txBody>
      </p:sp>
      <p:sp>
        <p:nvSpPr>
          <p:cNvPr id="9" name="Right Arrow 8"/>
          <p:cNvSpPr/>
          <p:nvPr/>
        </p:nvSpPr>
        <p:spPr>
          <a:xfrm>
            <a:off x="7406640" y="1993392"/>
            <a:ext cx="548640" cy="411480"/>
          </a:xfrm>
          <a:prstGeom prst="rightArrow">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092440" y="1691640"/>
            <a:ext cx="3383280" cy="9601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200"/>
              </a:spcAft>
            </a:pPr>
            <a:r>
              <a:rPr sz="1500" b="1">
                <a:solidFill>
                  <a:srgbClr val="104950"/>
                </a:solidFill>
                <a:latin typeface="Calibri"/>
              </a:rPr>
              <a:t>Knowledge base</a:t>
            </a:r>
          </a:p>
          <a:p>
            <a:pPr algn="ctr">
              <a:lnSpc>
                <a:spcPct val="100000"/>
              </a:lnSpc>
              <a:spcAft>
                <a:spcPts val="300"/>
              </a:spcAft>
            </a:pPr>
            <a:r>
              <a:rPr sz="1150" b="0">
                <a:solidFill>
                  <a:srgbClr val="5C676C"/>
                </a:solidFill>
                <a:latin typeface="Calibri"/>
              </a:rPr>
              <a:t>facts · timetable · rooms · profs</a:t>
            </a:r>
          </a:p>
        </p:txBody>
      </p:sp>
      <p:sp>
        <p:nvSpPr>
          <p:cNvPr id="11" name="Right Arrow 10"/>
          <p:cNvSpPr/>
          <p:nvPr/>
        </p:nvSpPr>
        <p:spPr>
          <a:xfrm>
            <a:off x="7406640" y="3227832"/>
            <a:ext cx="548640" cy="411480"/>
          </a:xfrm>
          <a:prstGeom prst="rightArrow">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092440" y="2926080"/>
            <a:ext cx="3383280" cy="9601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200"/>
              </a:spcAft>
            </a:pPr>
            <a:r>
              <a:rPr sz="1500" b="1">
                <a:solidFill>
                  <a:srgbClr val="104950"/>
                </a:solidFill>
                <a:latin typeface="Calibri"/>
              </a:rPr>
              <a:t>Groq LLM</a:t>
            </a:r>
          </a:p>
          <a:p>
            <a:pPr algn="ctr">
              <a:lnSpc>
                <a:spcPct val="100000"/>
              </a:lnSpc>
              <a:spcAft>
                <a:spcPts val="300"/>
              </a:spcAft>
            </a:pPr>
            <a:r>
              <a:rPr sz="1150" b="0">
                <a:solidFill>
                  <a:srgbClr val="5C676C"/>
                </a:solidFill>
                <a:latin typeface="Calibri"/>
              </a:rPr>
              <a:t>flexible explanations</a:t>
            </a:r>
          </a:p>
        </p:txBody>
      </p:sp>
      <p:sp>
        <p:nvSpPr>
          <p:cNvPr id="13" name="Right Arrow 12"/>
          <p:cNvSpPr/>
          <p:nvPr/>
        </p:nvSpPr>
        <p:spPr>
          <a:xfrm>
            <a:off x="7406640" y="4462272"/>
            <a:ext cx="548640" cy="411480"/>
          </a:xfrm>
          <a:prstGeom prst="rightArrow">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092440" y="4160520"/>
            <a:ext cx="3383280" cy="9601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200"/>
              </a:spcAft>
            </a:pPr>
            <a:r>
              <a:rPr sz="1500" b="1">
                <a:solidFill>
                  <a:srgbClr val="104950"/>
                </a:solidFill>
                <a:latin typeface="Calibri"/>
              </a:rPr>
              <a:t>ElevenLabs</a:t>
            </a:r>
          </a:p>
          <a:p>
            <a:pPr algn="ctr">
              <a:lnSpc>
                <a:spcPct val="100000"/>
              </a:lnSpc>
              <a:spcAft>
                <a:spcPts val="300"/>
              </a:spcAft>
            </a:pPr>
            <a:r>
              <a:rPr sz="1150" b="0">
                <a:solidFill>
                  <a:srgbClr val="5C676C"/>
                </a:solidFill>
                <a:latin typeface="Calibri"/>
              </a:rPr>
              <a:t>voice output</a:t>
            </a:r>
          </a:p>
        </p:txBody>
      </p:sp>
      <p:sp>
        <p:nvSpPr>
          <p:cNvPr id="15" name="Rounded Rectangle 14"/>
          <p:cNvSpPr/>
          <p:nvPr/>
        </p:nvSpPr>
        <p:spPr>
          <a:xfrm>
            <a:off x="685800" y="5074920"/>
            <a:ext cx="6583680" cy="868680"/>
          </a:xfrm>
          <a:prstGeom prst="roundRect">
            <a:avLst>
              <a:gd name="adj" fmla="val 9000"/>
            </a:avLst>
          </a:prstGeom>
          <a:solidFill>
            <a:srgbClr val="FBF6EC"/>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138928"/>
            <a:ext cx="6309360" cy="731520"/>
          </a:xfrm>
          <a:prstGeom prst="rect">
            <a:avLst/>
          </a:prstGeom>
          <a:noFill/>
        </p:spPr>
        <p:txBody>
          <a:bodyPr wrap="square" anchor="t">
            <a:spAutoFit/>
          </a:bodyPr>
          <a:lstStyle/>
          <a:p>
            <a:pPr algn="l">
              <a:lnSpc>
                <a:spcPct val="100000"/>
              </a:lnSpc>
              <a:spcAft>
                <a:spcPts val="100"/>
              </a:spcAft>
            </a:pPr>
            <a:r>
              <a:rPr sz="1400" b="1">
                <a:solidFill>
                  <a:srgbClr val="242B2F"/>
                </a:solidFill>
                <a:latin typeface="Calibri"/>
              </a:rPr>
              <a:t>Facts come from fixed sources. The LLM is used only when a flexible</a:t>
            </a:r>
          </a:p>
          <a:p>
            <a:pPr algn="l">
              <a:lnSpc>
                <a:spcPct val="100000"/>
              </a:lnSpc>
              <a:spcAft>
                <a:spcPts val="300"/>
              </a:spcAft>
            </a:pPr>
            <a:r>
              <a:rPr sz="1400" b="0">
                <a:solidFill>
                  <a:srgbClr val="5C676C"/>
                </a:solidFill>
                <a:latin typeface="Calibri"/>
              </a:rPr>
              <a:t>explanation is needed — which keeps answers accurate, not invented.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6EC"/>
        </a:solidFill>
        <a:effectLst/>
      </p:bgPr>
    </p:bg>
    <p:spTree>
      <p:nvGrpSpPr>
        <p:cNvPr id="1" name=""/>
        <p:cNvGrpSpPr/>
        <p:nvPr/>
      </p:nvGrpSpPr>
      <p:grpSpPr/>
      <p:sp>
        <p:nvSpPr>
          <p:cNvPr id="2" name="Oval 1"/>
          <p:cNvSpPr/>
          <p:nvPr/>
        </p:nvSpPr>
        <p:spPr>
          <a:xfrm>
            <a:off x="640080" y="530352"/>
            <a:ext cx="603504" cy="603504"/>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2600" b="1">
                <a:solidFill>
                  <a:srgbClr val="FFFFFF"/>
                </a:solidFill>
                <a:latin typeface="Calibri"/>
              </a:rPr>
              <a:t>3</a:t>
            </a:r>
          </a:p>
        </p:txBody>
      </p:sp>
      <p:sp>
        <p:nvSpPr>
          <p:cNvPr id="3" name="TextBox 2"/>
          <p:cNvSpPr txBox="1"/>
          <p:nvPr/>
        </p:nvSpPr>
        <p:spPr>
          <a:xfrm>
            <a:off x="1417320" y="502920"/>
            <a:ext cx="9144000" cy="685800"/>
          </a:xfrm>
          <a:prstGeom prst="rect">
            <a:avLst/>
          </a:prstGeom>
          <a:noFill/>
        </p:spPr>
        <p:txBody>
          <a:bodyPr wrap="square" anchor="ctr">
            <a:spAutoFit/>
          </a:bodyPr>
          <a:lstStyle/>
          <a:p>
            <a:pPr algn="l">
              <a:lnSpc>
                <a:spcPct val="100000"/>
              </a:lnSpc>
              <a:spcAft>
                <a:spcPts val="300"/>
              </a:spcAft>
            </a:pPr>
            <a:r>
              <a:rPr sz="3100" b="1">
                <a:solidFill>
                  <a:srgbClr val="104950"/>
                </a:solidFill>
                <a:latin typeface="Calibri"/>
              </a:rPr>
              <a:t>Tools Used</a:t>
            </a:r>
          </a:p>
        </p:txBody>
      </p:sp>
      <p:sp>
        <p:nvSpPr>
          <p:cNvPr id="4" name="Rectangle 3"/>
          <p:cNvSpPr/>
          <p:nvPr/>
        </p:nvSpPr>
        <p:spPr>
          <a:xfrm>
            <a:off x="676656" y="1335024"/>
            <a:ext cx="3291840" cy="64008"/>
          </a:xfrm>
          <a:prstGeom prst="rect">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10835640" y="548640"/>
            <a:ext cx="610379" cy="420624"/>
          </a:xfrm>
          <a:prstGeom prst="rect">
            <a:avLst/>
          </a:prstGeom>
        </p:spPr>
      </p:pic>
      <p:sp>
        <p:nvSpPr>
          <p:cNvPr id="6" name="Rounded Rectangle 5"/>
          <p:cNvSpPr/>
          <p:nvPr/>
        </p:nvSpPr>
        <p:spPr>
          <a:xfrm>
            <a:off x="664311" y="2103120"/>
            <a:ext cx="2084831" cy="283464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58087" y="2377440"/>
            <a:ext cx="1097280" cy="1097280"/>
          </a:xfrm>
          <a:prstGeom prst="ellipse">
            <a:avLst/>
          </a:prstGeom>
          <a:solidFill>
            <a:srgbClr val="FBF6EC"/>
          </a:solidFill>
          <a:ln>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3800" b="0">
                <a:solidFill>
                  <a:srgbClr val="242B2F"/>
                </a:solidFill>
                <a:latin typeface="Calibri"/>
              </a:rPr>
              <a:t>🐍</a:t>
            </a:r>
          </a:p>
        </p:txBody>
      </p:sp>
      <p:sp>
        <p:nvSpPr>
          <p:cNvPr id="8" name="TextBox 7"/>
          <p:cNvSpPr txBox="1"/>
          <p:nvPr/>
        </p:nvSpPr>
        <p:spPr>
          <a:xfrm>
            <a:off x="774039" y="3657600"/>
            <a:ext cx="1865376" cy="1188720"/>
          </a:xfrm>
          <a:prstGeom prst="rect">
            <a:avLst/>
          </a:prstGeom>
          <a:noFill/>
        </p:spPr>
        <p:txBody>
          <a:bodyPr wrap="square" anchor="t">
            <a:spAutoFit/>
          </a:bodyPr>
          <a:lstStyle/>
          <a:p>
            <a:pPr algn="ctr">
              <a:lnSpc>
                <a:spcPct val="100000"/>
              </a:lnSpc>
              <a:spcAft>
                <a:spcPts val="400"/>
              </a:spcAft>
            </a:pPr>
            <a:r>
              <a:rPr sz="1650" b="1">
                <a:solidFill>
                  <a:srgbClr val="104950"/>
                </a:solidFill>
                <a:latin typeface="Calibri"/>
              </a:rPr>
              <a:t>Python +
FastAPI</a:t>
            </a:r>
          </a:p>
          <a:p>
            <a:pPr algn="ctr">
              <a:lnSpc>
                <a:spcPct val="100000"/>
              </a:lnSpc>
              <a:spcAft>
                <a:spcPts val="300"/>
              </a:spcAft>
            </a:pPr>
            <a:r>
              <a:rPr sz="1250" b="0">
                <a:solidFill>
                  <a:srgbClr val="5C676C"/>
                </a:solidFill>
                <a:latin typeface="Calibri"/>
              </a:rPr>
              <a:t>Chatbot API &amp; server</a:t>
            </a:r>
          </a:p>
        </p:txBody>
      </p:sp>
      <p:sp>
        <p:nvSpPr>
          <p:cNvPr id="9" name="Rounded Rectangle 8"/>
          <p:cNvSpPr/>
          <p:nvPr/>
        </p:nvSpPr>
        <p:spPr>
          <a:xfrm>
            <a:off x="2858871" y="2103120"/>
            <a:ext cx="2084831" cy="283464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3352647" y="2377440"/>
            <a:ext cx="1097280" cy="1097280"/>
          </a:xfrm>
          <a:prstGeom prst="ellipse">
            <a:avLst/>
          </a:prstGeom>
          <a:solidFill>
            <a:srgbClr val="FBF6EC"/>
          </a:solidFill>
          <a:ln>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3800" b="0">
                <a:solidFill>
                  <a:srgbClr val="242B2F"/>
                </a:solidFill>
                <a:latin typeface="Calibri"/>
              </a:rPr>
              <a:t>🌐</a:t>
            </a:r>
          </a:p>
        </p:txBody>
      </p:sp>
      <p:sp>
        <p:nvSpPr>
          <p:cNvPr id="11" name="TextBox 10"/>
          <p:cNvSpPr txBox="1"/>
          <p:nvPr/>
        </p:nvSpPr>
        <p:spPr>
          <a:xfrm>
            <a:off x="2968599" y="3657600"/>
            <a:ext cx="1865376" cy="1188720"/>
          </a:xfrm>
          <a:prstGeom prst="rect">
            <a:avLst/>
          </a:prstGeom>
          <a:noFill/>
        </p:spPr>
        <p:txBody>
          <a:bodyPr wrap="square" anchor="t">
            <a:spAutoFit/>
          </a:bodyPr>
          <a:lstStyle/>
          <a:p>
            <a:pPr algn="ctr">
              <a:lnSpc>
                <a:spcPct val="100000"/>
              </a:lnSpc>
              <a:spcAft>
                <a:spcPts val="400"/>
              </a:spcAft>
            </a:pPr>
            <a:r>
              <a:rPr sz="1650" b="1">
                <a:solidFill>
                  <a:srgbClr val="104950"/>
                </a:solidFill>
                <a:latin typeface="Calibri"/>
              </a:rPr>
              <a:t>HTML · CSS
JavaScript</a:t>
            </a:r>
          </a:p>
          <a:p>
            <a:pPr algn="ctr">
              <a:lnSpc>
                <a:spcPct val="100000"/>
              </a:lnSpc>
              <a:spcAft>
                <a:spcPts val="300"/>
              </a:spcAft>
            </a:pPr>
            <a:r>
              <a:rPr sz="1250" b="0">
                <a:solidFill>
                  <a:srgbClr val="5C676C"/>
                </a:solidFill>
                <a:latin typeface="Calibri"/>
              </a:rPr>
              <a:t>Browser experience</a:t>
            </a:r>
          </a:p>
        </p:txBody>
      </p:sp>
      <p:sp>
        <p:nvSpPr>
          <p:cNvPr id="12" name="Rounded Rectangle 11"/>
          <p:cNvSpPr/>
          <p:nvPr/>
        </p:nvSpPr>
        <p:spPr>
          <a:xfrm>
            <a:off x="5053431" y="2103120"/>
            <a:ext cx="2084831" cy="283464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547207" y="2377440"/>
            <a:ext cx="1097280" cy="1097280"/>
          </a:xfrm>
          <a:prstGeom prst="ellipse">
            <a:avLst/>
          </a:prstGeom>
          <a:solidFill>
            <a:srgbClr val="FBF6EC"/>
          </a:solidFill>
          <a:ln>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3800" b="0">
                <a:solidFill>
                  <a:srgbClr val="242B2F"/>
                </a:solidFill>
                <a:latin typeface="Calibri"/>
              </a:rPr>
              <a:t>🧠</a:t>
            </a:r>
          </a:p>
        </p:txBody>
      </p:sp>
      <p:sp>
        <p:nvSpPr>
          <p:cNvPr id="14" name="TextBox 13"/>
          <p:cNvSpPr txBox="1"/>
          <p:nvPr/>
        </p:nvSpPr>
        <p:spPr>
          <a:xfrm>
            <a:off x="5163159" y="3657600"/>
            <a:ext cx="1865376" cy="1188720"/>
          </a:xfrm>
          <a:prstGeom prst="rect">
            <a:avLst/>
          </a:prstGeom>
          <a:noFill/>
        </p:spPr>
        <p:txBody>
          <a:bodyPr wrap="square" anchor="t">
            <a:spAutoFit/>
          </a:bodyPr>
          <a:lstStyle/>
          <a:p>
            <a:pPr algn="ctr">
              <a:lnSpc>
                <a:spcPct val="100000"/>
              </a:lnSpc>
              <a:spcAft>
                <a:spcPts val="400"/>
              </a:spcAft>
            </a:pPr>
            <a:r>
              <a:rPr sz="1650" b="1">
                <a:solidFill>
                  <a:srgbClr val="104950"/>
                </a:solidFill>
                <a:latin typeface="Calibri"/>
              </a:rPr>
              <a:t>Groq LLM</a:t>
            </a:r>
          </a:p>
          <a:p>
            <a:pPr algn="ctr">
              <a:lnSpc>
                <a:spcPct val="100000"/>
              </a:lnSpc>
              <a:spcAft>
                <a:spcPts val="300"/>
              </a:spcAft>
            </a:pPr>
            <a:r>
              <a:rPr sz="1250" b="0">
                <a:solidFill>
                  <a:srgbClr val="5C676C"/>
                </a:solidFill>
                <a:latin typeface="Calibri"/>
              </a:rPr>
              <a:t>Conversational answers</a:t>
            </a:r>
          </a:p>
        </p:txBody>
      </p:sp>
      <p:sp>
        <p:nvSpPr>
          <p:cNvPr id="15" name="Rounded Rectangle 14"/>
          <p:cNvSpPr/>
          <p:nvPr/>
        </p:nvSpPr>
        <p:spPr>
          <a:xfrm>
            <a:off x="7247991" y="2103120"/>
            <a:ext cx="2084831" cy="283464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741767" y="2377440"/>
            <a:ext cx="1097280" cy="1097280"/>
          </a:xfrm>
          <a:prstGeom prst="ellipse">
            <a:avLst/>
          </a:prstGeom>
          <a:solidFill>
            <a:srgbClr val="FBF6EC"/>
          </a:solidFill>
          <a:ln>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3800" b="0">
                <a:solidFill>
                  <a:srgbClr val="242B2F"/>
                </a:solidFill>
                <a:latin typeface="Calibri"/>
              </a:rPr>
              <a:t>🎙️</a:t>
            </a:r>
          </a:p>
        </p:txBody>
      </p:sp>
      <p:sp>
        <p:nvSpPr>
          <p:cNvPr id="17" name="TextBox 16"/>
          <p:cNvSpPr txBox="1"/>
          <p:nvPr/>
        </p:nvSpPr>
        <p:spPr>
          <a:xfrm>
            <a:off x="7357719" y="3657600"/>
            <a:ext cx="1865376" cy="1188720"/>
          </a:xfrm>
          <a:prstGeom prst="rect">
            <a:avLst/>
          </a:prstGeom>
          <a:noFill/>
        </p:spPr>
        <p:txBody>
          <a:bodyPr wrap="square" anchor="t">
            <a:spAutoFit/>
          </a:bodyPr>
          <a:lstStyle/>
          <a:p>
            <a:pPr algn="ctr">
              <a:lnSpc>
                <a:spcPct val="100000"/>
              </a:lnSpc>
              <a:spcAft>
                <a:spcPts val="400"/>
              </a:spcAft>
            </a:pPr>
            <a:r>
              <a:rPr sz="1650" b="1">
                <a:solidFill>
                  <a:srgbClr val="104950"/>
                </a:solidFill>
                <a:latin typeface="Calibri"/>
              </a:rPr>
              <a:t>ElevenLabs</a:t>
            </a:r>
          </a:p>
          <a:p>
            <a:pPr algn="ctr">
              <a:lnSpc>
                <a:spcPct val="100000"/>
              </a:lnSpc>
              <a:spcAft>
                <a:spcPts val="300"/>
              </a:spcAft>
            </a:pPr>
            <a:r>
              <a:rPr sz="1250" b="0">
                <a:solidFill>
                  <a:srgbClr val="5C676C"/>
                </a:solidFill>
                <a:latin typeface="Calibri"/>
              </a:rPr>
              <a:t>Optional voice output</a:t>
            </a:r>
          </a:p>
        </p:txBody>
      </p:sp>
      <p:sp>
        <p:nvSpPr>
          <p:cNvPr id="18" name="Rounded Rectangle 17"/>
          <p:cNvSpPr/>
          <p:nvPr/>
        </p:nvSpPr>
        <p:spPr>
          <a:xfrm>
            <a:off x="9442551" y="2103120"/>
            <a:ext cx="2084831" cy="283464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936327" y="2377440"/>
            <a:ext cx="1097280" cy="1097280"/>
          </a:xfrm>
          <a:prstGeom prst="ellipse">
            <a:avLst/>
          </a:prstGeom>
          <a:solidFill>
            <a:srgbClr val="FBF6EC"/>
          </a:solidFill>
          <a:ln>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3800" b="0">
                <a:solidFill>
                  <a:srgbClr val="242B2F"/>
                </a:solidFill>
                <a:latin typeface="Calibri"/>
              </a:rPr>
              <a:t>📄</a:t>
            </a:r>
          </a:p>
        </p:txBody>
      </p:sp>
      <p:sp>
        <p:nvSpPr>
          <p:cNvPr id="20" name="TextBox 19"/>
          <p:cNvSpPr txBox="1"/>
          <p:nvPr/>
        </p:nvSpPr>
        <p:spPr>
          <a:xfrm>
            <a:off x="9552279" y="3657600"/>
            <a:ext cx="1865376" cy="1188720"/>
          </a:xfrm>
          <a:prstGeom prst="rect">
            <a:avLst/>
          </a:prstGeom>
          <a:noFill/>
        </p:spPr>
        <p:txBody>
          <a:bodyPr wrap="square" anchor="t">
            <a:spAutoFit/>
          </a:bodyPr>
          <a:lstStyle/>
          <a:p>
            <a:pPr algn="ctr">
              <a:lnSpc>
                <a:spcPct val="100000"/>
              </a:lnSpc>
              <a:spcAft>
                <a:spcPts val="400"/>
              </a:spcAft>
            </a:pPr>
            <a:r>
              <a:rPr sz="1650" b="1">
                <a:solidFill>
                  <a:srgbClr val="104950"/>
                </a:solidFill>
                <a:latin typeface="Calibri"/>
              </a:rPr>
              <a:t>PDF extraction</a:t>
            </a:r>
          </a:p>
          <a:p>
            <a:pPr algn="ctr">
              <a:lnSpc>
                <a:spcPct val="100000"/>
              </a:lnSpc>
              <a:spcAft>
                <a:spcPts val="300"/>
              </a:spcAft>
            </a:pPr>
            <a:r>
              <a:rPr sz="1250" b="0">
                <a:solidFill>
                  <a:srgbClr val="5C676C"/>
                </a:solidFill>
                <a:latin typeface="Calibri"/>
              </a:rPr>
              <a:t>Rooms &amp; professor lookup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6EC"/>
        </a:solidFill>
        <a:effectLst/>
      </p:bgPr>
    </p:bg>
    <p:spTree>
      <p:nvGrpSpPr>
        <p:cNvPr id="1" name=""/>
        <p:cNvGrpSpPr/>
        <p:nvPr/>
      </p:nvGrpSpPr>
      <p:grpSpPr/>
      <p:sp>
        <p:nvSpPr>
          <p:cNvPr id="2" name="Oval 1"/>
          <p:cNvSpPr/>
          <p:nvPr/>
        </p:nvSpPr>
        <p:spPr>
          <a:xfrm>
            <a:off x="640080" y="530352"/>
            <a:ext cx="603504" cy="603504"/>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2600" b="1">
                <a:solidFill>
                  <a:srgbClr val="FFFFFF"/>
                </a:solidFill>
                <a:latin typeface="Calibri"/>
              </a:rPr>
              <a:t>4</a:t>
            </a:r>
          </a:p>
        </p:txBody>
      </p:sp>
      <p:sp>
        <p:nvSpPr>
          <p:cNvPr id="3" name="TextBox 2"/>
          <p:cNvSpPr txBox="1"/>
          <p:nvPr/>
        </p:nvSpPr>
        <p:spPr>
          <a:xfrm>
            <a:off x="1417320" y="502920"/>
            <a:ext cx="9144000" cy="685800"/>
          </a:xfrm>
          <a:prstGeom prst="rect">
            <a:avLst/>
          </a:prstGeom>
          <a:noFill/>
        </p:spPr>
        <p:txBody>
          <a:bodyPr wrap="square" anchor="ctr">
            <a:spAutoFit/>
          </a:bodyPr>
          <a:lstStyle/>
          <a:p>
            <a:pPr algn="l">
              <a:lnSpc>
                <a:spcPct val="100000"/>
              </a:lnSpc>
              <a:spcAft>
                <a:spcPts val="300"/>
              </a:spcAft>
            </a:pPr>
            <a:r>
              <a:rPr sz="3100" b="1">
                <a:solidFill>
                  <a:srgbClr val="104950"/>
                </a:solidFill>
                <a:latin typeface="Calibri"/>
              </a:rPr>
              <a:t>Methodology &amp; Challenges</a:t>
            </a:r>
          </a:p>
        </p:txBody>
      </p:sp>
      <p:sp>
        <p:nvSpPr>
          <p:cNvPr id="4" name="Rectangle 3"/>
          <p:cNvSpPr/>
          <p:nvPr/>
        </p:nvSpPr>
        <p:spPr>
          <a:xfrm>
            <a:off x="676656" y="1335024"/>
            <a:ext cx="3291840" cy="64008"/>
          </a:xfrm>
          <a:prstGeom prst="rect">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10835640" y="548640"/>
            <a:ext cx="610379" cy="420624"/>
          </a:xfrm>
          <a:prstGeom prst="rect">
            <a:avLst/>
          </a:prstGeom>
        </p:spPr>
      </p:pic>
      <p:sp>
        <p:nvSpPr>
          <p:cNvPr id="6" name="Chevron 5"/>
          <p:cNvSpPr/>
          <p:nvPr/>
        </p:nvSpPr>
        <p:spPr>
          <a:xfrm>
            <a:off x="685800" y="1783080"/>
            <a:ext cx="2743200" cy="960120"/>
          </a:xfrm>
          <a:prstGeom prst="chevron">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1500" b="1">
                <a:solidFill>
                  <a:srgbClr val="FFFFFF"/>
                </a:solidFill>
                <a:latin typeface="Calibri"/>
              </a:rPr>
              <a:t>Analysis</a:t>
            </a:r>
          </a:p>
        </p:txBody>
      </p:sp>
      <p:sp>
        <p:nvSpPr>
          <p:cNvPr id="7" name="Chevron 6"/>
          <p:cNvSpPr/>
          <p:nvPr/>
        </p:nvSpPr>
        <p:spPr>
          <a:xfrm>
            <a:off x="3227832" y="1783080"/>
            <a:ext cx="2743200" cy="960120"/>
          </a:xfrm>
          <a:prstGeom prst="chevron">
            <a:avLst/>
          </a:prstGeom>
          <a:solidFill>
            <a:srgbClr val="1049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1500" b="1">
                <a:solidFill>
                  <a:srgbClr val="FFFFFF"/>
                </a:solidFill>
                <a:latin typeface="Calibri"/>
              </a:rPr>
              <a:t>Knowledge
collection</a:t>
            </a:r>
          </a:p>
        </p:txBody>
      </p:sp>
      <p:sp>
        <p:nvSpPr>
          <p:cNvPr id="8" name="Chevron 7"/>
          <p:cNvSpPr/>
          <p:nvPr/>
        </p:nvSpPr>
        <p:spPr>
          <a:xfrm>
            <a:off x="5769864" y="1783080"/>
            <a:ext cx="2743200" cy="960120"/>
          </a:xfrm>
          <a:prstGeom prst="chevron">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1500" b="1">
                <a:solidFill>
                  <a:srgbClr val="FFFFFF"/>
                </a:solidFill>
                <a:latin typeface="Calibri"/>
              </a:rPr>
              <a:t>Build
back + front</a:t>
            </a:r>
          </a:p>
        </p:txBody>
      </p:sp>
      <p:sp>
        <p:nvSpPr>
          <p:cNvPr id="9" name="Chevron 8"/>
          <p:cNvSpPr/>
          <p:nvPr/>
        </p:nvSpPr>
        <p:spPr>
          <a:xfrm>
            <a:off x="8311896" y="1783080"/>
            <a:ext cx="2743200" cy="960120"/>
          </a:xfrm>
          <a:prstGeom prst="chevron">
            <a:avLst/>
          </a:prstGeom>
          <a:solidFill>
            <a:srgbClr val="1049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1500" b="1">
                <a:solidFill>
                  <a:srgbClr val="FFFFFF"/>
                </a:solidFill>
                <a:latin typeface="Calibri"/>
              </a:rPr>
              <a:t>Testing</a:t>
            </a:r>
          </a:p>
        </p:txBody>
      </p:sp>
      <p:sp>
        <p:nvSpPr>
          <p:cNvPr id="10" name="TextBox 9"/>
          <p:cNvSpPr txBox="1"/>
          <p:nvPr/>
        </p:nvSpPr>
        <p:spPr>
          <a:xfrm>
            <a:off x="685800" y="2880360"/>
            <a:ext cx="10789920" cy="365760"/>
          </a:xfrm>
          <a:prstGeom prst="rect">
            <a:avLst/>
          </a:prstGeom>
          <a:noFill/>
        </p:spPr>
        <p:txBody>
          <a:bodyPr wrap="square" anchor="t">
            <a:spAutoFit/>
          </a:bodyPr>
          <a:lstStyle/>
          <a:p>
            <a:pPr algn="l">
              <a:lnSpc>
                <a:spcPct val="100000"/>
              </a:lnSpc>
              <a:spcAft>
                <a:spcPts val="300"/>
              </a:spcAft>
            </a:pPr>
            <a:r>
              <a:rPr sz="1300" b="1">
                <a:solidFill>
                  <a:srgbClr val="5C676C"/>
                </a:solidFill>
                <a:latin typeface="Calibri"/>
              </a:rPr>
              <a:t>Brief analysis  →  collect facts  →  build backend &amp; frontend  →  test for accuracy</a:t>
            </a:r>
          </a:p>
        </p:txBody>
      </p:sp>
      <p:sp>
        <p:nvSpPr>
          <p:cNvPr id="11" name="Rounded Rectangle 10"/>
          <p:cNvSpPr/>
          <p:nvPr/>
        </p:nvSpPr>
        <p:spPr>
          <a:xfrm>
            <a:off x="685800" y="3520440"/>
            <a:ext cx="5349240" cy="23317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85800" y="3520440"/>
            <a:ext cx="146304" cy="2331720"/>
          </a:xfrm>
          <a:prstGeom prst="rect">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51560" y="3703320"/>
            <a:ext cx="4800600" cy="2011680"/>
          </a:xfrm>
          <a:prstGeom prst="rect">
            <a:avLst/>
          </a:prstGeom>
          <a:noFill/>
        </p:spPr>
        <p:txBody>
          <a:bodyPr wrap="square" anchor="t">
            <a:spAutoFit/>
          </a:bodyPr>
          <a:lstStyle/>
          <a:p>
            <a:pPr algn="l">
              <a:lnSpc>
                <a:spcPct val="100000"/>
              </a:lnSpc>
              <a:spcAft>
                <a:spcPts val="600"/>
              </a:spcAft>
            </a:pPr>
            <a:r>
              <a:rPr sz="1700" b="1">
                <a:solidFill>
                  <a:srgbClr val="104950"/>
                </a:solidFill>
                <a:latin typeface="Calibri"/>
              </a:rPr>
              <a:t>⚠  Avoiding hallucinated facts</a:t>
            </a:r>
          </a:p>
          <a:p>
            <a:pPr algn="l">
              <a:lnSpc>
                <a:spcPct val="110000"/>
              </a:lnSpc>
              <a:spcAft>
                <a:spcPts val="300"/>
              </a:spcAft>
            </a:pPr>
            <a:r>
              <a:rPr sz="1350" b="0">
                <a:solidFill>
                  <a:srgbClr val="5C676C"/>
                </a:solidFill>
                <a:latin typeface="Calibri"/>
              </a:rPr>
              <a:t>Schedules, rooms, fees and language answers use FIXED sources — not the LLM — so the bot states real facts or says "I don't have that."</a:t>
            </a:r>
          </a:p>
        </p:txBody>
      </p:sp>
      <p:sp>
        <p:nvSpPr>
          <p:cNvPr id="14" name="Rounded Rectangle 13"/>
          <p:cNvSpPr/>
          <p:nvPr/>
        </p:nvSpPr>
        <p:spPr>
          <a:xfrm>
            <a:off x="6355080" y="3520440"/>
            <a:ext cx="5120640" cy="23317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55080" y="3520440"/>
            <a:ext cx="146304" cy="2331720"/>
          </a:xfrm>
          <a:prstGeom prst="rect">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20840" y="3703320"/>
            <a:ext cx="4572000" cy="2011680"/>
          </a:xfrm>
          <a:prstGeom prst="rect">
            <a:avLst/>
          </a:prstGeom>
          <a:noFill/>
        </p:spPr>
        <p:txBody>
          <a:bodyPr wrap="square" anchor="t">
            <a:spAutoFit/>
          </a:bodyPr>
          <a:lstStyle/>
          <a:p>
            <a:pPr algn="l">
              <a:lnSpc>
                <a:spcPct val="100000"/>
              </a:lnSpc>
              <a:spcAft>
                <a:spcPts val="600"/>
              </a:spcAft>
            </a:pPr>
            <a:r>
              <a:rPr sz="1700" b="1">
                <a:solidFill>
                  <a:srgbClr val="104950"/>
                </a:solidFill>
                <a:latin typeface="Calibri"/>
              </a:rPr>
              <a:t>⚠  Messy timetable PDFs</a:t>
            </a:r>
          </a:p>
          <a:p>
            <a:pPr algn="l">
              <a:lnSpc>
                <a:spcPct val="110000"/>
              </a:lnSpc>
              <a:spcAft>
                <a:spcPts val="300"/>
              </a:spcAft>
            </a:pPr>
            <a:r>
              <a:rPr sz="1350" b="0">
                <a:solidFill>
                  <a:srgbClr val="5C676C"/>
                </a:solidFill>
                <a:latin typeface="Calibri"/>
              </a:rPr>
              <a:t>Room and professor data arrived in different PDF formats, so we built custom extraction to pull it into clean, searchable data.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6EC"/>
        </a:solidFill>
        <a:effectLst/>
      </p:bgPr>
    </p:bg>
    <p:spTree>
      <p:nvGrpSpPr>
        <p:cNvPr id="1" name=""/>
        <p:cNvGrpSpPr/>
        <p:nvPr/>
      </p:nvGrpSpPr>
      <p:grpSpPr/>
      <p:sp>
        <p:nvSpPr>
          <p:cNvPr id="2" name="Oval 1"/>
          <p:cNvSpPr/>
          <p:nvPr/>
        </p:nvSpPr>
        <p:spPr>
          <a:xfrm>
            <a:off x="640080" y="530352"/>
            <a:ext cx="603504" cy="603504"/>
          </a:xfrm>
          <a:prstGeom prst="ellipse">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2600" b="1">
                <a:solidFill>
                  <a:srgbClr val="FFFFFF"/>
                </a:solidFill>
                <a:latin typeface="Calibri"/>
              </a:rPr>
              <a:t>5</a:t>
            </a:r>
          </a:p>
        </p:txBody>
      </p:sp>
      <p:sp>
        <p:nvSpPr>
          <p:cNvPr id="3" name="TextBox 2"/>
          <p:cNvSpPr txBox="1"/>
          <p:nvPr/>
        </p:nvSpPr>
        <p:spPr>
          <a:xfrm>
            <a:off x="1417320" y="502920"/>
            <a:ext cx="9144000" cy="685800"/>
          </a:xfrm>
          <a:prstGeom prst="rect">
            <a:avLst/>
          </a:prstGeom>
          <a:noFill/>
        </p:spPr>
        <p:txBody>
          <a:bodyPr wrap="square" anchor="ctr">
            <a:spAutoFit/>
          </a:bodyPr>
          <a:lstStyle/>
          <a:p>
            <a:pPr algn="l">
              <a:lnSpc>
                <a:spcPct val="100000"/>
              </a:lnSpc>
              <a:spcAft>
                <a:spcPts val="300"/>
              </a:spcAft>
            </a:pPr>
            <a:r>
              <a:rPr sz="3100" b="1">
                <a:solidFill>
                  <a:srgbClr val="104950"/>
                </a:solidFill>
                <a:latin typeface="Calibri"/>
              </a:rPr>
              <a:t>MCP — Model Context Protocol</a:t>
            </a:r>
          </a:p>
        </p:txBody>
      </p:sp>
      <p:sp>
        <p:nvSpPr>
          <p:cNvPr id="4" name="Rectangle 3"/>
          <p:cNvSpPr/>
          <p:nvPr/>
        </p:nvSpPr>
        <p:spPr>
          <a:xfrm>
            <a:off x="676656" y="1335024"/>
            <a:ext cx="3291840" cy="64008"/>
          </a:xfrm>
          <a:prstGeom prst="rect">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png"/>
          <p:cNvPicPr>
            <a:picLocks noChangeAspect="1"/>
          </p:cNvPicPr>
          <p:nvPr/>
        </p:nvPicPr>
        <p:blipFill>
          <a:blip r:embed="rId2"/>
          <a:stretch>
            <a:fillRect/>
          </a:stretch>
        </p:blipFill>
        <p:spPr>
          <a:xfrm>
            <a:off x="10835640" y="548640"/>
            <a:ext cx="610379" cy="420624"/>
          </a:xfrm>
          <a:prstGeom prst="rect">
            <a:avLst/>
          </a:prstGeom>
        </p:spPr>
      </p:pic>
      <p:sp>
        <p:nvSpPr>
          <p:cNvPr id="6" name="Rounded Rectangle 5"/>
          <p:cNvSpPr/>
          <p:nvPr/>
        </p:nvSpPr>
        <p:spPr>
          <a:xfrm>
            <a:off x="685800" y="1783080"/>
            <a:ext cx="3154680" cy="109728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200"/>
              </a:spcAft>
            </a:pPr>
            <a:r>
              <a:rPr sz="1500" b="1">
                <a:solidFill>
                  <a:srgbClr val="104950"/>
                </a:solidFill>
                <a:latin typeface="Calibri"/>
              </a:rPr>
              <a:t>AI host</a:t>
            </a:r>
          </a:p>
          <a:p>
            <a:pPr algn="ctr">
              <a:lnSpc>
                <a:spcPct val="100000"/>
              </a:lnSpc>
              <a:spcAft>
                <a:spcPts val="300"/>
              </a:spcAft>
            </a:pPr>
            <a:r>
              <a:rPr sz="1150" b="0">
                <a:solidFill>
                  <a:srgbClr val="5C676C"/>
                </a:solidFill>
                <a:latin typeface="Calibri"/>
              </a:rPr>
              <a:t>e.g. Claude Desktop (MCP client)</a:t>
            </a:r>
          </a:p>
        </p:txBody>
      </p:sp>
      <p:sp>
        <p:nvSpPr>
          <p:cNvPr id="7" name="Right Arrow 6"/>
          <p:cNvSpPr/>
          <p:nvPr/>
        </p:nvSpPr>
        <p:spPr>
          <a:xfrm>
            <a:off x="3931920" y="2148840"/>
            <a:ext cx="502920" cy="365760"/>
          </a:xfrm>
          <a:prstGeom prst="rightArrow">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26280" y="1783080"/>
            <a:ext cx="3291840" cy="1097280"/>
          </a:xfrm>
          <a:prstGeom prst="roundRect">
            <a:avLst>
              <a:gd name="adj" fmla="val 9000"/>
            </a:avLst>
          </a:prstGeom>
          <a:solidFill>
            <a:srgbClr val="1F6F7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200"/>
              </a:spcAft>
            </a:pPr>
            <a:r>
              <a:rPr sz="1500" b="1">
                <a:solidFill>
                  <a:srgbClr val="FFFFFF"/>
                </a:solidFill>
                <a:latin typeface="Calibri"/>
              </a:rPr>
              <a:t>Our MCP server</a:t>
            </a:r>
          </a:p>
          <a:p>
            <a:pPr algn="ctr">
              <a:lnSpc>
                <a:spcPct val="100000"/>
              </a:lnSpc>
              <a:spcAft>
                <a:spcPts val="300"/>
              </a:spcAft>
            </a:pPr>
            <a:r>
              <a:rPr sz="1150" b="0">
                <a:solidFill>
                  <a:srgbClr val="D8ECEE"/>
                </a:solidFill>
                <a:latin typeface="Calibri"/>
              </a:rPr>
              <a:t>search_mem_mim_documents</a:t>
            </a:r>
          </a:p>
        </p:txBody>
      </p:sp>
      <p:sp>
        <p:nvSpPr>
          <p:cNvPr id="9" name="Right Arrow 8"/>
          <p:cNvSpPr/>
          <p:nvPr/>
        </p:nvSpPr>
        <p:spPr>
          <a:xfrm>
            <a:off x="7909560" y="2148840"/>
            <a:ext cx="502920" cy="365760"/>
          </a:xfrm>
          <a:prstGeom prst="rightArrow">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58200" y="1783080"/>
            <a:ext cx="3063240" cy="109728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200"/>
              </a:spcAft>
            </a:pPr>
            <a:r>
              <a:rPr sz="1500" b="1">
                <a:solidFill>
                  <a:srgbClr val="104950"/>
                </a:solidFill>
                <a:latin typeface="Calibri"/>
              </a:rPr>
              <a:t>knowledge_docs</a:t>
            </a:r>
          </a:p>
          <a:p>
            <a:pPr algn="ctr">
              <a:lnSpc>
                <a:spcPct val="100000"/>
              </a:lnSpc>
              <a:spcAft>
                <a:spcPts val="300"/>
              </a:spcAft>
            </a:pPr>
            <a:r>
              <a:rPr sz="1150" b="0">
                <a:solidFill>
                  <a:srgbClr val="5C676C"/>
                </a:solidFill>
                <a:latin typeface="Calibri"/>
              </a:rPr>
              <a:t>facts · timetable · rooms</a:t>
            </a:r>
          </a:p>
        </p:txBody>
      </p:sp>
      <p:sp>
        <p:nvSpPr>
          <p:cNvPr id="11" name="TextBox 10"/>
          <p:cNvSpPr txBox="1"/>
          <p:nvPr/>
        </p:nvSpPr>
        <p:spPr>
          <a:xfrm>
            <a:off x="685800" y="2971800"/>
            <a:ext cx="10789920" cy="320040"/>
          </a:xfrm>
          <a:prstGeom prst="rect">
            <a:avLst/>
          </a:prstGeom>
          <a:noFill/>
        </p:spPr>
        <p:txBody>
          <a:bodyPr wrap="square" anchor="t">
            <a:spAutoFit/>
          </a:bodyPr>
          <a:lstStyle/>
          <a:p>
            <a:pPr algn="l">
              <a:lnSpc>
                <a:spcPct val="100000"/>
              </a:lnSpc>
              <a:spcAft>
                <a:spcPts val="300"/>
              </a:spcAft>
            </a:pPr>
            <a:r>
              <a:rPr sz="1250" b="1">
                <a:solidFill>
                  <a:srgbClr val="5C676C"/>
                </a:solidFill>
                <a:latin typeface="Calibri"/>
              </a:rPr>
              <a:t>A standard way for any AI assistant to query our knowledge base as a tool.</a:t>
            </a:r>
          </a:p>
        </p:txBody>
      </p:sp>
      <p:sp>
        <p:nvSpPr>
          <p:cNvPr id="12" name="Rounded Rectangle 11"/>
          <p:cNvSpPr/>
          <p:nvPr/>
        </p:nvSpPr>
        <p:spPr>
          <a:xfrm>
            <a:off x="685800" y="3520440"/>
            <a:ext cx="5349240" cy="23317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85800" y="3520440"/>
            <a:ext cx="146304" cy="2331720"/>
          </a:xfrm>
          <a:prstGeom prst="rect">
            <a:avLst/>
          </a:prstGeom>
          <a:solidFill>
            <a:srgbClr val="2EA0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703320"/>
            <a:ext cx="4800600" cy="2011680"/>
          </a:xfrm>
          <a:prstGeom prst="rect">
            <a:avLst/>
          </a:prstGeom>
          <a:noFill/>
        </p:spPr>
        <p:txBody>
          <a:bodyPr wrap="square" anchor="t">
            <a:spAutoFit/>
          </a:bodyPr>
          <a:lstStyle/>
          <a:p>
            <a:pPr algn="l">
              <a:lnSpc>
                <a:spcPct val="100000"/>
              </a:lnSpc>
              <a:spcAft>
                <a:spcPts val="600"/>
              </a:spcAft>
            </a:pPr>
            <a:r>
              <a:rPr sz="1700" b="1">
                <a:solidFill>
                  <a:srgbClr val="104950"/>
                </a:solidFill>
                <a:latin typeface="Calibri"/>
              </a:rPr>
              <a:t>✓  What we built</a:t>
            </a:r>
          </a:p>
          <a:p>
            <a:pPr algn="l">
              <a:lnSpc>
                <a:spcPct val="112000"/>
              </a:lnSpc>
              <a:spcAft>
                <a:spcPts val="300"/>
              </a:spcAft>
            </a:pPr>
            <a:r>
              <a:rPr sz="1350" b="0">
                <a:solidFill>
                  <a:srgbClr val="5C676C"/>
                </a:solidFill>
                <a:latin typeface="Calibri"/>
              </a:rPr>
              <a:t>An MCP server (mcp_knowledge_server.py) that exposes our knowledge base as the MCP tool search_mem_mim_documents — any MCP host (e.g. Claude Desktop) can query our MEM/MIM data.</a:t>
            </a:r>
          </a:p>
        </p:txBody>
      </p:sp>
      <p:sp>
        <p:nvSpPr>
          <p:cNvPr id="15" name="Rounded Rectangle 14"/>
          <p:cNvSpPr/>
          <p:nvPr/>
        </p:nvSpPr>
        <p:spPr>
          <a:xfrm>
            <a:off x="6355080" y="3520440"/>
            <a:ext cx="5120640" cy="2331720"/>
          </a:xfrm>
          <a:prstGeom prst="roundRect">
            <a:avLst>
              <a:gd name="adj" fmla="val 9000"/>
            </a:avLst>
          </a:prstGeom>
          <a:solidFill>
            <a:srgbClr val="FFFFFF"/>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55080" y="3520440"/>
            <a:ext cx="146304" cy="2331720"/>
          </a:xfrm>
          <a:prstGeom prst="rect">
            <a:avLst/>
          </a:prstGeom>
          <a:solidFill>
            <a:srgbClr val="DB8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720840" y="3703320"/>
            <a:ext cx="4572000" cy="2011680"/>
          </a:xfrm>
          <a:prstGeom prst="rect">
            <a:avLst/>
          </a:prstGeom>
          <a:noFill/>
        </p:spPr>
        <p:txBody>
          <a:bodyPr wrap="square" anchor="t">
            <a:spAutoFit/>
          </a:bodyPr>
          <a:lstStyle/>
          <a:p>
            <a:pPr algn="l">
              <a:lnSpc>
                <a:spcPct val="100000"/>
              </a:lnSpc>
              <a:spcAft>
                <a:spcPts val="600"/>
              </a:spcAft>
            </a:pPr>
            <a:r>
              <a:rPr sz="1700" b="1">
                <a:solidFill>
                  <a:srgbClr val="104950"/>
                </a:solidFill>
                <a:latin typeface="Calibri"/>
              </a:rPr>
              <a:t>▶  See it live in the demo</a:t>
            </a:r>
          </a:p>
          <a:p>
            <a:pPr algn="l">
              <a:lnSpc>
                <a:spcPct val="112000"/>
              </a:lnSpc>
              <a:spcAft>
                <a:spcPts val="300"/>
              </a:spcAft>
            </a:pPr>
            <a:r>
              <a:rPr sz="1350" b="0">
                <a:solidFill>
                  <a:srgbClr val="5C676C"/>
                </a:solidFill>
                <a:latin typeface="Calibri"/>
              </a:rPr>
              <a:t>We wired that same tool into the bot — type  “mcp search: &lt;topic&gt;”  and it runs the MCP knowledge search, returning sourced excerpts. (A full external MCP client needs: pip install mcp.)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6F78"/>
        </a:solidFill>
        <a:effectLst/>
      </p:bgPr>
    </p:bg>
    <p:spTree>
      <p:nvGrpSpPr>
        <p:cNvPr id="1" name=""/>
        <p:cNvGrpSpPr/>
        <p:nvPr/>
      </p:nvGrpSpPr>
      <p:grpSpPr/>
      <p:sp>
        <p:nvSpPr>
          <p:cNvPr id="2" name="Rounded Rectangle 1"/>
          <p:cNvSpPr/>
          <p:nvPr/>
        </p:nvSpPr>
        <p:spPr>
          <a:xfrm>
            <a:off x="1143000" y="1143000"/>
            <a:ext cx="9921240" cy="4526280"/>
          </a:xfrm>
          <a:prstGeom prst="roundRect">
            <a:avLst>
              <a:gd name="adj" fmla="val 9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png"/>
          <p:cNvPicPr>
            <a:picLocks noChangeAspect="1"/>
          </p:cNvPicPr>
          <p:nvPr/>
        </p:nvPicPr>
        <p:blipFill>
          <a:blip r:embed="rId2"/>
          <a:stretch>
            <a:fillRect/>
          </a:stretch>
        </p:blipFill>
        <p:spPr>
          <a:xfrm>
            <a:off x="5596128" y="1417320"/>
            <a:ext cx="822685" cy="566928"/>
          </a:xfrm>
          <a:prstGeom prst="rect">
            <a:avLst/>
          </a:prstGeom>
        </p:spPr>
      </p:pic>
      <p:sp>
        <p:nvSpPr>
          <p:cNvPr id="4" name="TextBox 3"/>
          <p:cNvSpPr txBox="1"/>
          <p:nvPr/>
        </p:nvSpPr>
        <p:spPr>
          <a:xfrm>
            <a:off x="1371600" y="2240280"/>
            <a:ext cx="9464040" cy="1188720"/>
          </a:xfrm>
          <a:prstGeom prst="rect">
            <a:avLst/>
          </a:prstGeom>
          <a:noFill/>
        </p:spPr>
        <p:txBody>
          <a:bodyPr wrap="square" anchor="t">
            <a:spAutoFit/>
          </a:bodyPr>
          <a:lstStyle/>
          <a:p>
            <a:pPr algn="ctr">
              <a:lnSpc>
                <a:spcPct val="100000"/>
              </a:lnSpc>
              <a:spcAft>
                <a:spcPts val="300"/>
              </a:spcAft>
            </a:pPr>
            <a:r>
              <a:rPr sz="4600" b="1">
                <a:solidFill>
                  <a:srgbClr val="104950"/>
                </a:solidFill>
                <a:latin typeface="Calibri"/>
              </a:rPr>
              <a:t>Live Demo</a:t>
            </a:r>
          </a:p>
          <a:p>
            <a:pPr algn="ctr">
              <a:lnSpc>
                <a:spcPct val="100000"/>
              </a:lnSpc>
              <a:spcAft>
                <a:spcPts val="300"/>
              </a:spcAft>
            </a:pPr>
            <a:r>
              <a:rPr sz="1600" b="0">
                <a:solidFill>
                  <a:srgbClr val="5C676C"/>
                </a:solidFill>
                <a:latin typeface="Calibri"/>
              </a:rPr>
              <a:t>Ask it: applying · MEM vs MIM · the English track · your schedule.</a:t>
            </a:r>
          </a:p>
        </p:txBody>
      </p:sp>
      <p:sp>
        <p:nvSpPr>
          <p:cNvPr id="5" name="Rounded Rectangle 4"/>
          <p:cNvSpPr/>
          <p:nvPr/>
        </p:nvSpPr>
        <p:spPr>
          <a:xfrm>
            <a:off x="4526280" y="3657600"/>
            <a:ext cx="3154680" cy="603504"/>
          </a:xfrm>
          <a:prstGeom prst="roundRect">
            <a:avLst>
              <a:gd name="adj" fmla="val 9000"/>
            </a:avLst>
          </a:prstGeom>
          <a:solidFill>
            <a:srgbClr val="FBF6EC"/>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lnSpc>
                <a:spcPct val="100000"/>
              </a:lnSpc>
              <a:spcAft>
                <a:spcPts val="300"/>
              </a:spcAft>
            </a:pPr>
            <a:r>
              <a:rPr sz="1400" b="1">
                <a:solidFill>
                  <a:srgbClr val="104950"/>
                </a:solidFill>
                <a:latin typeface="Calibri"/>
              </a:rPr>
              <a:t>🔗  [ your Render URL ]</a:t>
            </a:r>
          </a:p>
        </p:txBody>
      </p:sp>
      <p:sp>
        <p:nvSpPr>
          <p:cNvPr id="6" name="Rounded Rectangle 5"/>
          <p:cNvSpPr/>
          <p:nvPr/>
        </p:nvSpPr>
        <p:spPr>
          <a:xfrm>
            <a:off x="1508760" y="4526280"/>
            <a:ext cx="9189720" cy="960120"/>
          </a:xfrm>
          <a:prstGeom prst="roundRect">
            <a:avLst>
              <a:gd name="adj" fmla="val 9000"/>
            </a:avLst>
          </a:prstGeom>
          <a:solidFill>
            <a:srgbClr val="FBF6EC"/>
          </a:solidFill>
          <a:ln w="15875">
            <a:solidFill>
              <a:srgbClr val="E7DFD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783080" y="4617720"/>
            <a:ext cx="8686800" cy="868680"/>
          </a:xfrm>
          <a:prstGeom prst="rect">
            <a:avLst/>
          </a:prstGeom>
          <a:noFill/>
        </p:spPr>
        <p:txBody>
          <a:bodyPr wrap="square" anchor="t">
            <a:spAutoFit/>
          </a:bodyPr>
          <a:lstStyle/>
          <a:p>
            <a:pPr algn="ctr">
              <a:lnSpc>
                <a:spcPct val="100000"/>
              </a:lnSpc>
              <a:spcAft>
                <a:spcPts val="300"/>
              </a:spcAft>
            </a:pPr>
            <a:r>
              <a:rPr sz="1350" b="1">
                <a:solidFill>
                  <a:srgbClr val="104950"/>
                </a:solidFill>
                <a:latin typeface="Calibri"/>
              </a:rPr>
              <a:t>Built with help from AI pair-programming assistants</a:t>
            </a:r>
          </a:p>
          <a:p>
            <a:pPr algn="ctr">
              <a:lnSpc>
                <a:spcPct val="100000"/>
              </a:lnSpc>
              <a:spcAft>
                <a:spcPts val="300"/>
              </a:spcAft>
            </a:pPr>
            <a:r>
              <a:rPr sz="1150" b="0">
                <a:solidFill>
                  <a:srgbClr val="5C676C"/>
                </a:solidFill>
                <a:latin typeface="Calibri"/>
              </a:rPr>
              <a:t>Claude (Claude Code) — debugging, answer accuracy &amp; anti-hallucination guardrails, voice &amp; deployment</a:t>
            </a:r>
          </a:p>
          <a:p>
            <a:pPr algn="ctr">
              <a:lnSpc>
                <a:spcPct val="100000"/>
              </a:lnSpc>
              <a:spcAft>
                <a:spcPts val="300"/>
              </a:spcAft>
            </a:pPr>
            <a:r>
              <a:rPr sz="1150" b="0">
                <a:solidFill>
                  <a:srgbClr val="5C676C"/>
                </a:solidFill>
                <a:latin typeface="Calibri"/>
              </a:rPr>
              <a:t>Codex — implementing answer features: timetable, rooms, professors &amp; language requirements</a:t>
            </a:r>
          </a:p>
        </p:txBody>
      </p:sp>
      <p:sp>
        <p:nvSpPr>
          <p:cNvPr id="8" name="TextBox 7"/>
          <p:cNvSpPr txBox="1"/>
          <p:nvPr/>
        </p:nvSpPr>
        <p:spPr>
          <a:xfrm>
            <a:off x="1371600" y="5897880"/>
            <a:ext cx="9464040" cy="640080"/>
          </a:xfrm>
          <a:prstGeom prst="rect">
            <a:avLst/>
          </a:prstGeom>
          <a:noFill/>
        </p:spPr>
        <p:txBody>
          <a:bodyPr wrap="square" anchor="t">
            <a:spAutoFit/>
          </a:bodyPr>
          <a:lstStyle/>
          <a:p>
            <a:pPr algn="ctr">
              <a:lnSpc>
                <a:spcPct val="100000"/>
              </a:lnSpc>
              <a:spcAft>
                <a:spcPts val="300"/>
              </a:spcAft>
            </a:pPr>
            <a:r>
              <a:rPr sz="2200" b="1">
                <a:solidFill>
                  <a:srgbClr val="FFFFFF"/>
                </a:solidFill>
                <a:latin typeface="Calibri"/>
              </a:rPr>
              <a:t>Thank you  —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